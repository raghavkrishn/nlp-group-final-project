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15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566160"/>
            <a:ext cx="5943600" cy="54864"/>
          </a:xfrm>
          <a:prstGeom prst="rect">
            <a:avLst/>
          </a:prstGeom>
          <a:solidFill>
            <a:srgbClr val="17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PDEBench-Lang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ADD8E6"/>
                </a:solidFill>
              </a:rPr>
              <a:t>Does Notation Format Shape Neural Reasoning About PDEs?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5C1E9"/>
                </a:solidFill>
              </a:rPr>
              <a:t>Natural Language  ·  LaTeX  ·  Prefix  ·  Postfix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60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8C8D"/>
                </a:solidFill>
              </a:rPr>
              <a:t>NLP Final Project  —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Central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</a:rPr>
              <a:t>Notation is just formatting — or does it change what the model learns?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PDEs can be written in radically different ways. Does the format a model is trained on affect how well it reasons about equation structure?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377440"/>
            <a:ext cx="265176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41401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Natural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24912"/>
            <a:ext cx="2651760" cy="1920240"/>
          </a:xfrm>
          <a:prstGeom prst="rect">
            <a:avLst/>
          </a:prstGeom>
          <a:solidFill>
            <a:srgbClr val="F8F9FA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78892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The second time derivative of u
equals c² times the second
spatial derivative of 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377440"/>
            <a:ext cx="2651760" cy="3474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41401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LaTeX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724912"/>
            <a:ext cx="2651760" cy="1920240"/>
          </a:xfrm>
          <a:prstGeom prst="rect">
            <a:avLst/>
          </a:prstGeom>
          <a:solidFill>
            <a:srgbClr val="F8F9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78892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u_{tt} = c^{2} \, u_{xx}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2377440"/>
            <a:ext cx="2651760" cy="347472"/>
          </a:xfrm>
          <a:prstGeom prst="rect">
            <a:avLst/>
          </a:prstGeom>
          <a:solidFill>
            <a:srgbClr val="17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59" y="241401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Prefix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2724912"/>
            <a:ext cx="2651760" cy="1920240"/>
          </a:xfrm>
          <a:prstGeom prst="rect">
            <a:avLst/>
          </a:prstGeom>
          <a:solidFill>
            <a:srgbClr val="F8F9FA"/>
          </a:solidFill>
          <a:ln w="19050">
            <a:solidFill>
              <a:srgbClr val="179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199" y="278892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=(d(d(u,t),t),
 *(^(c,2), d(d(u,x),x)))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19" y="2377440"/>
            <a:ext cx="265176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19" y="241401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Postfix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19" y="2724912"/>
            <a:ext cx="2651760" cy="1920240"/>
          </a:xfrm>
          <a:prstGeom prst="rect">
            <a:avLst/>
          </a:prstGeom>
          <a:solidFill>
            <a:srgbClr val="F8F9FA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59" y="278892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u t d t d
c 2 ^ u x d x d *
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00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F8C8D"/>
                </a:solidFill>
              </a:rPr>
              <a:t>Same equation — Wave PDE (u_tt = c²u_xx) — four representations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57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C3E50"/>
                </a:solidFill>
              </a:rPr>
              <a:t>We train one T5-small model per dialect and measure: accuracy, cross-dialect transfer, and zero-shot generalisation.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Dataset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</a:rPr>
              <a:t>10,000 training instances · 3 held-out families · 4 dialects 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303520" cy="5212080"/>
          </a:xfrm>
          <a:prstGeom prst="rect">
            <a:avLst/>
          </a:prstGeom>
          <a:solidFill>
            <a:srgbClr val="EAF2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Training Families  (5 × 2,000 = 10,000)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280160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5681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u_t = α u_xx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</a:rPr>
              <a:t>diffusion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24912"/>
            <a:ext cx="1280160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614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249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u_tt = c² u_xx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7249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</a:rPr>
              <a:t>wave propagation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9584"/>
            <a:ext cx="1280160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Burgers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5295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u_t + u·u_x = ν u_xx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52958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</a:rPr>
              <a:t>nonlinear transport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34256"/>
            <a:ext cx="1280160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370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3342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u_xx + u_yy =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33425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</a:rPr>
              <a:t>steady-state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38928"/>
            <a:ext cx="1280160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1755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Advection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389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u_t + c·u_x =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5138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</a:rPr>
              <a:t>pure transport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371600"/>
            <a:ext cx="5897880" cy="5212080"/>
          </a:xfrm>
          <a:prstGeom prst="rect">
            <a:avLst/>
          </a:prstGeom>
          <a:solidFill>
            <a:srgbClr val="FDF2F8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4630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Held-Out Families  (zero-shot test only)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011680"/>
            <a:ext cx="19202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20482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KleinGordon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u_tt − u_xx + m²u =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39572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</a:rPr>
              <a:t>wave + mass term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3291840"/>
            <a:ext cx="19202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332841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ReactionDiffusion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u_t = D·u_xx + r·u·(1−u)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67588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</a:rPr>
              <a:t>diffusion + logistic growth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572000"/>
            <a:ext cx="19202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6085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u_tt + b·u_xxxx =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95604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</a:rPr>
              <a:t>wave + 4th-order space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52120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⚠  Models never see these during training — used only for zero-shot evaluation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400800"/>
            <a:ext cx="11521440" cy="3657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4190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Output format per instance:  family: Heat  |  operators: exp, polynomial  |  reasoning: Contains first-order time derivative…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Model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</a:rPr>
              <a:t>Four independent T5-small models — one per dialect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219456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Input
(one dialect)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560320"/>
            <a:ext cx="2560320" cy="1645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6974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T5-small
Fine-tuned
60M params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560320"/>
            <a:ext cx="5120640" cy="1645920"/>
          </a:xfrm>
          <a:prstGeom prst="rect">
            <a:avLst/>
          </a:prstGeom>
          <a:solidFill>
            <a:srgbClr val="17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97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Output
family: Wave
operators: sin, cos, polynomial
reasoning: Second-order in time…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3A6B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80B9"/>
                </a:solidFill>
              </a:rPr>
              <a:t>▸  </a:t>
            </a:r>
            <a:r>
              <a:rPr sz="1600">
                <a:solidFill>
                  <a:srgbClr val="2C3E50"/>
                </a:solidFill>
              </a:rPr>
              <a:t>Base model: google/t5-small  (60M parameters)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194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80B9"/>
                </a:solidFill>
              </a:rPr>
              <a:t>▸  </a:t>
            </a:r>
            <a:r>
              <a:rPr sz="1600">
                <a:solidFill>
                  <a:srgbClr val="2C3E50"/>
                </a:solidFill>
              </a:rPr>
              <a:t>Training: 3 epochs · batch size 16 · learning rate 3×10⁻⁴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669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80B9"/>
                </a:solidFill>
              </a:rPr>
              <a:t>▸  </a:t>
            </a:r>
            <a:r>
              <a:rPr sz="1600">
                <a:solidFill>
                  <a:srgbClr val="2C3E50"/>
                </a:solidFill>
              </a:rPr>
              <a:t>Split: 80% train / 10% val / 10% test  (same split reused across all 4 models)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1441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80B9"/>
                </a:solidFill>
              </a:rPr>
              <a:t>▸  </a:t>
            </a:r>
            <a:r>
              <a:rPr sz="1600">
                <a:solidFill>
                  <a:srgbClr val="2C3E50"/>
                </a:solidFill>
              </a:rPr>
              <a:t>Inference on CPU to avoid MPS beam-search issues on Apple Silicon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3A6B"/>
                </a:solidFill>
              </a:rPr>
              <a:t>Everything else is identical — only the training dialect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Experiment 1 — In-Dialect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</a:rPr>
              <a:t>Train on dialect X, test on dialect X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65176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4533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Natural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B3A6B"/>
                </a:solidFill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F8C8D"/>
                </a:solidFill>
              </a:rPr>
              <a:t>family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508760"/>
            <a:ext cx="265176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54533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LaTeX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0116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980B9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788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F8C8D"/>
                </a:solidFill>
              </a:rPr>
              <a:t>family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2651760" cy="411480"/>
          </a:xfrm>
          <a:prstGeom prst="rect">
            <a:avLst/>
          </a:prstGeom>
          <a:solidFill>
            <a:srgbClr val="17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4533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Prefix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116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79A8A"/>
                </a:solidFill>
              </a:rPr>
              <a:t>98.5%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88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F8C8D"/>
                </a:solidFill>
              </a:rPr>
              <a:t>family 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508760"/>
            <a:ext cx="265176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54533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Postfix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0116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E44AD"/>
                </a:solidFill>
              </a:rPr>
              <a:t>98.2%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788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F8C8D"/>
                </a:solidFill>
              </a:rPr>
              <a:t>family 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91840"/>
            <a:ext cx="11430000" cy="365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What this tells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404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80B9"/>
                </a:solidFill>
              </a:rPr>
              <a:t>▸  </a:t>
            </a:r>
            <a:r>
              <a:rPr sz="1600">
                <a:solidFill>
                  <a:srgbClr val="2C3E50"/>
                </a:solidFill>
              </a:rPr>
              <a:t>All four models saturate at ~100% — T5-small easily learns each dialect.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879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80B9"/>
                </a:solidFill>
              </a:rPr>
              <a:t>▸  </a:t>
            </a:r>
            <a:r>
              <a:rPr sz="1600">
                <a:solidFill>
                  <a:srgbClr val="2C3E50"/>
                </a:solidFill>
              </a:rPr>
              <a:t>Trash score = 0% across all dialects: when the family label is correct, reasoning is also correct.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3542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80B9"/>
                </a:solidFill>
              </a:rPr>
              <a:t>▸  </a:t>
            </a:r>
            <a:r>
              <a:rPr sz="1600">
                <a:solidFill>
                  <a:srgbClr val="2C3E50"/>
                </a:solidFill>
              </a:rPr>
              <a:t>ROUGE-L ≈ 44% despite 100% accuracy — the model outputs a different valid reasoning template, not the exact ground-truth sentence.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828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80B9"/>
                </a:solidFill>
              </a:rPr>
              <a:t>▸  </a:t>
            </a:r>
            <a:r>
              <a:rPr sz="1600">
                <a:solidFill>
                  <a:srgbClr val="2C3E50"/>
                </a:solidFill>
              </a:rPr>
              <a:t>Problem: a 100% ceiling tells us nothing about which dialect is better.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30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80B9"/>
                </a:solidFill>
              </a:rPr>
              <a:t>▸  </a:t>
            </a:r>
            <a:r>
              <a:rPr sz="1600">
                <a:solidFill>
                  <a:srgbClr val="2C3E50"/>
                </a:solidFill>
              </a:rPr>
              <a:t>Solution → test each model on dialects it has never seen.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Experiment 2 — Cross-Dialect Generalisation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</a:rPr>
              <a:t>Train on one dialect, test on all four → 4×4 accuracy matrix</a:t>
            </a:r>
          </a:p>
        </p:txBody>
      </p:sp>
      <p:pic>
        <p:nvPicPr>
          <p:cNvPr id="6" name="Picture 5" descr="cross_dialec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Cross-Dialect: What the Numbers Mean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</a:rPr>
              <a:t>A Heat equation — tested on a model trained on Postfix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Input given to the model  (LaTeX dialect — model was trained on Postfix):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solidFill>
            <a:srgbClr val="F4F6F7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56232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C3E50"/>
                </a:solidFill>
                <a:latin typeface="Courier New"/>
              </a:rPr>
              <a:t>\frac{\partial}{\partial t} u(t,x) = 1.42 \frac{\partial^{2}}{\partial x^{2}} u(t,x)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5669280" cy="4023360"/>
          </a:xfrm>
          <a:prstGeom prst="rect">
            <a:avLst/>
          </a:prstGeom>
          <a:solidFill>
            <a:srgbClr val="F0FFF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Postfix model (78% cross-dialect accuracy on LaTeX)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Predicted family:  Heat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C3E50"/>
                </a:solidFill>
              </a:rPr>
              <a:t>Reasoning:  "A single time derivative balanced against a second spatial derivative scaled by 1.42 identifies this as diffusive transport."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463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</a:rPr>
              <a:t>✓  Correct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423160"/>
            <a:ext cx="5669280" cy="4023360"/>
          </a:xfrm>
          <a:prstGeom prst="rect">
            <a:avLst/>
          </a:prstGeom>
          <a:solidFill>
            <a:srgbClr val="FF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Natural model (20% cross-dialect accuracy on LaTeX)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Predicted family:  Wave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290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C3E50"/>
                </a:solidFill>
              </a:rPr>
              <a:t>Reasoning:  "Contains a second-order time derivative and second-order spatial derivative, indicating wave propagation."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463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✗  Wrong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B3A6B"/>
                </a:solidFill>
              </a:rPr>
              <a:t>Postfix learned PDE structure well enough to transfer across notation. Natural language model overfits to surface phrasing.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Cross-Dialect: 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64592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Trained 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417320"/>
            <a:ext cx="137160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4630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Natural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137160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LaTeX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417320"/>
            <a:ext cx="137160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4630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137160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630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Postfix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1417320"/>
            <a:ext cx="164592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1463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Avg off-diag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01368"/>
            <a:ext cx="164592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8470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</a:rPr>
              <a:t>Natural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1801368"/>
            <a:ext cx="1371600" cy="475488"/>
          </a:xfrm>
          <a:prstGeom prst="rect">
            <a:avLst/>
          </a:prstGeom>
          <a:solidFill>
            <a:srgbClr val="FFD700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18470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801368"/>
            <a:ext cx="137160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18470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20%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801368"/>
            <a:ext cx="137160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18470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801368"/>
            <a:ext cx="137160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8470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20%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0" y="1801368"/>
            <a:ext cx="1645920" cy="475488"/>
          </a:xfrm>
          <a:prstGeom prst="rect">
            <a:avLst/>
          </a:prstGeom>
          <a:solidFill>
            <a:srgbClr val="EAF2FB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18470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3E50"/>
                </a:solidFill>
              </a:rPr>
              <a:t>20.0%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304288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3500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80B9"/>
                </a:solidFill>
              </a:rPr>
              <a:t>LaTeX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230428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23500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2304288"/>
            <a:ext cx="1371600" cy="475488"/>
          </a:xfrm>
          <a:prstGeom prst="rect">
            <a:avLst/>
          </a:prstGeom>
          <a:solidFill>
            <a:srgbClr val="FFD700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23500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30428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23500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30428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23500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0" y="2304288"/>
            <a:ext cx="1645920" cy="475488"/>
          </a:xfrm>
          <a:prstGeom prst="rect">
            <a:avLst/>
          </a:prstGeom>
          <a:solidFill>
            <a:srgbClr val="EAF2FB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0" y="23500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3E50"/>
                </a:solidFill>
              </a:rPr>
              <a:t>0.0%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807208"/>
            <a:ext cx="164592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85292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79A8A"/>
                </a:solidFill>
              </a:rPr>
              <a:t>Prefix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0" y="2807208"/>
            <a:ext cx="137160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8529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2807208"/>
            <a:ext cx="137160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29000" y="28529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38.7%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2807208"/>
            <a:ext cx="1371600" cy="475488"/>
          </a:xfrm>
          <a:prstGeom prst="rect">
            <a:avLst/>
          </a:prstGeom>
          <a:solidFill>
            <a:srgbClr val="FFD700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00600" y="28529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98.5%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2807208"/>
            <a:ext cx="137160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28529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68.9%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0" y="2807208"/>
            <a:ext cx="1645920" cy="475488"/>
          </a:xfrm>
          <a:prstGeom prst="rect">
            <a:avLst/>
          </a:prstGeom>
          <a:solidFill>
            <a:srgbClr val="EAF2FB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43800" y="285292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3E50"/>
                </a:solidFill>
              </a:rPr>
              <a:t>35.9%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310128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335584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E44AD"/>
                </a:solidFill>
              </a:rPr>
              <a:t>Postfix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11680" y="331012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335584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5.7%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80" y="331012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29000" y="335584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78.1%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80" y="331012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00600" y="335584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77.9%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3310128"/>
            <a:ext cx="1371600" cy="475488"/>
          </a:xfrm>
          <a:prstGeom prst="rect">
            <a:avLst/>
          </a:prstGeom>
          <a:solidFill>
            <a:srgbClr val="FFD700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72200" y="335584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</a:rPr>
              <a:t>98.2%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98080" y="3310128"/>
            <a:ext cx="1645920" cy="475488"/>
          </a:xfrm>
          <a:prstGeom prst="rect">
            <a:avLst/>
          </a:prstGeom>
          <a:solidFill>
            <a:srgbClr val="EAF2FB"/>
          </a:solidFill>
          <a:ln w="6350">
            <a:solidFill>
              <a:srgbClr val="D0D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43800" y="335584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3E50"/>
                </a:solidFill>
              </a:rPr>
              <a:t>53.9%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C3E50"/>
                </a:solidFill>
              </a:rPr>
              <a:t>Gold cells = in-dialect (diagonal)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4434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80B9"/>
                </a:solidFill>
              </a:rPr>
              <a:t>▸  </a:t>
            </a:r>
            <a:r>
              <a:rPr sz="1600">
                <a:solidFill>
                  <a:srgbClr val="2C3E50"/>
                </a:solidFill>
              </a:rPr>
              <a:t>Postfix is the best cross-dialect generaliser  (avg 53.9% off-diagonal)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478231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80B9"/>
                </a:solidFill>
              </a:rPr>
              <a:t>▸  </a:t>
            </a:r>
            <a:r>
              <a:rPr sz="1600">
                <a:solidFill>
                  <a:srgbClr val="2C3E50"/>
                </a:solidFill>
              </a:rPr>
              <a:t>LaTeX completely fails cross-dialect  (0.0%) — memorised LaTeX token patterns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512978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80B9"/>
                </a:solidFill>
              </a:rPr>
              <a:t>▸  </a:t>
            </a:r>
            <a:r>
              <a:rPr sz="1600">
                <a:solidFill>
                  <a:srgbClr val="2C3E50"/>
                </a:solidFill>
              </a:rPr>
              <a:t>Prefix → Postfix = 68.9% and vice versa 77.9% — symbolic dialects transfer to each other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47725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980B9"/>
                </a:solidFill>
              </a:rPr>
              <a:t>▸  </a:t>
            </a:r>
            <a:r>
              <a:rPr sz="1600">
                <a:solidFill>
                  <a:srgbClr val="2C3E50"/>
                </a:solidFill>
              </a:rPr>
              <a:t>Natural → anything = 20% (random) — surface language doesn't transfer symbolically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Experiment 3 — Zero-Shot Generalisation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</a:rPr>
              <a:t>All 4 models tested on 3 PDE families never seen during training</a:t>
            </a:r>
          </a:p>
        </p:txBody>
      </p:sp>
      <p:pic>
        <p:nvPicPr>
          <p:cNvPr id="6" name="Picture 5" descr="zeroshot_roug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11887200" cy="4114800"/>
          </a:xfrm>
          <a:prstGeom prst="rect">
            <a:avLst/>
          </a:prstGeom>
        </p:spPr>
      </p:pic>
      <p:pic>
        <p:nvPicPr>
          <p:cNvPr id="7" name="Picture 6" descr="zeroshot_family_pr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303520"/>
            <a:ext cx="1188720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Zero-Shot: The Beam Equation — A Stress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</a:rPr>
              <a:t>u_tt + b·u_xxxx = 0  (4th-order spatial derivative — completely new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Same equation, four dialects: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5669280" cy="2194560"/>
          </a:xfrm>
          <a:prstGeom prst="rect">
            <a:avLst/>
          </a:prstGeom>
          <a:solidFill>
            <a:srgbClr val="F8F9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47671"/>
            <a:ext cx="1828800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84247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Natural  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13431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u_tt plus 0.71 times the fourth derivative of u w.r.t. x equals zero.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34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→ Predicts: Advection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00399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"fourth" never seen in training → ignored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5669280" cy="2194560"/>
          </a:xfrm>
          <a:prstGeom prst="rect">
            <a:avLst/>
          </a:prstGeom>
          <a:solidFill>
            <a:srgbClr val="F8F9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947671"/>
            <a:ext cx="1828800" cy="3017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84247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LaTeX  ✓~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13431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\partial^2/\partial t^2 u + 0.71 \partial^4/\partial x^4 u 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→ Predicts: Wave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00399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Sees \partial^2 in time → calls it Wave (close enough)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51960"/>
            <a:ext cx="5669280" cy="2194560"/>
          </a:xfrm>
          <a:prstGeom prst="rect">
            <a:avLst/>
          </a:prstGeom>
          <a:solidFill>
            <a:srgbClr val="F8F9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325112"/>
            <a:ext cx="1828800" cy="3017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36168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Prefix 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69087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=(+(*(0.71, d(d(d(d(u,x),x),x),x)), d(d(u,t),t)), 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212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→ Predicts: Wave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577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Counts 4 nested d() calls in x → recognises depth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251960"/>
            <a:ext cx="5669280" cy="2194560"/>
          </a:xfrm>
          <a:prstGeom prst="rect">
            <a:avLst/>
          </a:prstGeom>
          <a:solidFill>
            <a:srgbClr val="F8F9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325112"/>
            <a:ext cx="1828800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36168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Postfix  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69087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0.71 u x d x d x d x d * u t d t d + 0 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212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→ Predicts: Advection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577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Token repetition misread as first-order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Big Reversal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</a:rPr>
              <a:t>Postfix wins cross-dialect. Prefix wins zero-shot. Why?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669280" cy="5166360"/>
          </a:xfrm>
          <a:prstGeom prst="rect">
            <a:avLst/>
          </a:prstGeom>
          <a:solidFill>
            <a:srgbClr val="F8F9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6B"/>
                </a:solidFill>
              </a:rPr>
              <a:t>Cross-Dialect
Generalisation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</a:rPr>
              <a:t>Same equation, different notation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74320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88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Best: Postfix  53.9%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651760"/>
            <a:ext cx="246888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6883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Worst: LaTeX  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Postfix encodes operator order as a left-to-right token sequence.
This surface ordering is easy to re-match across notation styles.
It generalises because it learned to recognise token patterns
that are consistent across different dialects.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371600"/>
            <a:ext cx="5669280" cy="5166360"/>
          </a:xfrm>
          <a:prstGeom prst="rect">
            <a:avLst/>
          </a:prstGeom>
          <a:solidFill>
            <a:srgbClr val="F8F9FA"/>
          </a:solidFill>
          <a:ln w="25400">
            <a:solidFill>
              <a:srgbClr val="179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6B"/>
                </a:solidFill>
              </a:rPr>
              <a:t>Zero-Shot
Generalisation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</a:rPr>
              <a:t>Never-seen PDE families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651760"/>
            <a:ext cx="2743200" cy="347472"/>
          </a:xfrm>
          <a:prstGeom prst="rect">
            <a:avLst/>
          </a:prstGeom>
          <a:solidFill>
            <a:srgbClr val="17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88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Best: Prefix  3/3 families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2651760"/>
            <a:ext cx="246888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6883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Worst: Postfix  1/3 families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5468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Prefix encodes operator depth as explicit nesting:
d(d(u,x),x) = 2nd order.  d(d(d(d(u,x)…),x),x) = 4th order.
The model learns to count nesting depth — which is exactly
what determines PDE structural family.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3A6B"/>
                </a:solidFill>
              </a:rPr>
              <a:t>Different notations encode different inductive biases.
There is no single "best" dialect — the right choice depends on what kind of generalisation you need.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502920" cy="8229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91056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</a:rPr>
              <a:t>Notation format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</a:rPr>
              <a:t>All four models hit 100% in-dialect. The ceiling hides the real differences. Cross-dialect and zero-shot tests reveal that what the model actually learned is very different depending on dialect.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11430000" cy="274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502920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145536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980B9"/>
                </a:solidFill>
              </a:rPr>
              <a:t>Postfix → best cross-dialect generaliser  (53.9% avg off-diagonal).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</a:rPr>
              <a:t>Symbolic token order is robust across notation styles. Prefix transfers to postfix and back. Natural and LaTeX each create isolated "notation islands".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43400"/>
            <a:ext cx="11430000" cy="274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502920" cy="822960"/>
          </a:xfrm>
          <a:prstGeom prst="rect">
            <a:avLst/>
          </a:prstGeom>
          <a:solidFill>
            <a:srgbClr val="17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700016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79A8A"/>
                </a:solidFill>
              </a:rPr>
              <a:t>Prefix → best zero-shot generaliser  (3/3 unseen families correctly mapped).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</a:rPr>
              <a:t>Nested function calls encode derivative order explicitly. Postfix fails on Beam and KleinGordon because repeated tokens look first-order. Structure-encoding beats pattern-matching for unseen equations.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897880"/>
            <a:ext cx="11430000" cy="274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Future Work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577840" cy="2011680"/>
          </a:xfrm>
          <a:prstGeom prst="rect">
            <a:avLst/>
          </a:prstGeom>
          <a:solidFill>
            <a:srgbClr val="EAF2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184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Break the 100% ceiling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Add ReactionDiffusion to training — gives the model a 6th family to distinguish, making in-dialect accuracy non-trivial and revealing dialect-specific weaknesses.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508760"/>
            <a:ext cx="5577840" cy="2011680"/>
          </a:xfrm>
          <a:prstGeom prst="rect">
            <a:avLst/>
          </a:prstGeom>
          <a:solidFill>
            <a:srgbClr val="EAF2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184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Bigger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Repeat with T5-base (250M) or BART-base. Does scale change the cross-dialect gap? Does a larger model close the postfix zero-shot failure on Beam?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94760"/>
            <a:ext cx="5577840" cy="2011680"/>
          </a:xfrm>
          <a:prstGeom prst="rect">
            <a:avLst/>
          </a:prstGeom>
          <a:solidFill>
            <a:srgbClr val="EAF2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9044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Multiple seeds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434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Run each training 3× with different random seeds to add error bars. Confirm that the prefix vs postfix zero-shot gap is statistically significant.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5577840" cy="2011680"/>
          </a:xfrm>
          <a:prstGeom prst="rect">
            <a:avLst/>
          </a:prstGeom>
          <a:solidFill>
            <a:srgbClr val="EAF2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044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Intermediate representations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434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Train on a mix of two dialects (e.g., 50% prefix + 50% postfix). Does exposure to both symbolic forms further improve generalisation?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0392B"/>
                </a:solidFill>
              </a:rPr>
              <a:t>Limitation: T5-small may not be powerful enough to fully exploit structural cues — a stronger baseline model is needed before drawing firm conclusions.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